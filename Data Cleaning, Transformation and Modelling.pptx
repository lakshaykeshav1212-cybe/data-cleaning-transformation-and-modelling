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4A06-C1CE-A411-2D3B-B9A86B5FF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4F0E7-13EC-0DF7-B8A8-6853B90DE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120A4-DE7D-7524-8371-D2E6B7EC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CD98-608B-2924-5118-27933B6A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9D5D7-F4D4-AA9D-6D7D-7C13DC2D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82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F761-7BD3-F3AD-B1EC-196647BD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76C76-5FC6-7637-CC5C-E4F0C0B7E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A39DD-FD6B-728C-4BC2-CA8BFBCB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BD89A-5DC2-03FC-38C5-FB8B9EE0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6ECA2-D854-8F1E-4F84-3B19C969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67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E0A6-5D4B-97C1-002A-D8B3AF2D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5FE8A-061C-3077-EC60-4E6F17DC0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59230-03C1-D089-0819-D9628C154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2961C-CFD4-3390-D3CC-29E427C0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1ED14-F457-D968-3819-83E2F40D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64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189E-62D5-2584-5624-F9C9D2A1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586E-03D6-247C-35EF-22B9A8123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0AFD2-B566-7359-7590-A7E3EB811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EA79D-347B-9A82-EFFA-733F25C4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11C1C-2D98-D93E-6EEF-43A9FE90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34D58-19ED-BBD4-02A6-5E2CF35B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04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C69D-4985-3E39-B584-1DAA1DB26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68EE6-5ACF-B088-44A3-A282F283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0689A-20FF-23CB-C105-8992C3F8C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99896-8A5A-9362-5FA1-77718145E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47B2C-3F49-A7A6-607B-E68484A3D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1BE87-B270-7E26-E274-C16C73EA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FA5E70-BAB5-958C-0F7F-62413232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B70752-95AA-ACCA-830D-232D82B8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40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C235-1B9B-C780-D26D-1CB6816D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724D2-8A89-CB8F-C8CD-2506087F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33D28-AED3-D972-9F78-9328C981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C8BBC-7E05-1CC4-2891-5AECF251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0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A66D5-0D38-4DEC-2A0B-CE277AA7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169C9-639E-D913-8637-83221F653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014AE-A22B-5D17-C047-F7471377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54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56F2-F41D-7A7A-8807-28794B78E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52F3B-EFC2-B0AB-61C4-E13EF99BA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8A7D-75E3-8541-1F61-B006BF452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4AF1E-D210-A812-172B-74311912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048CF-E419-1B5F-6B42-AF080042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E2D3C-77B6-273C-27E0-6997B88D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68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9FBC1-2183-B855-A0E9-8F2EFF69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3C166-6EB1-BDAF-E43D-65478A5F5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38D01-C4AE-B74F-E00C-62EC8608A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4A73-7A20-97A8-10DF-ED9D3B65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067EB-8889-2405-1574-68451150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8C1E9-A8C1-539F-0B12-943B8C5E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22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2FC87-158E-73C1-BA67-F85CCC90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3A874-EB60-5DC8-9386-38E72685C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9A4CA-42D6-03E9-F83E-7C7783CE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F4CAC-C081-AC58-1659-DAC1D0EA2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A7F43-D8D1-0744-1776-3E29D4D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21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4618C-3AD8-27D4-186C-C35093CCB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4B663-0B20-30E2-8718-B15E19B57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CDB59-2D7A-8B5D-C266-4C46568E6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DDD94-A907-70A6-78D4-38C3E8C3E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9BFEF-BE7A-9F6E-378B-7C5449A0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82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D7A8D-F74D-60E3-E5AD-764A3F01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C2FF4-3DDF-6811-BBD3-C3AC66CED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4C61B-0F65-3CCB-FA43-9DD870854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DA501-1FBF-43CB-AE3C-4F2CD31C282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A799-3CD6-F709-3FD9-2E61EE2DE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75AEA-1F11-6B17-7076-120BB35AB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8C499-388D-46F7-BF7C-4DDDD943F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6BB8-47EA-F05D-D80D-2CC8AD7E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40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Eras Medium ITC" panose="020B0602030504020804" pitchFamily="34" charset="0"/>
                <a:cs typeface="Arial" panose="020B0604020202020204" pitchFamily="34" charset="0"/>
              </a:rPr>
              <a:t>Data Cleaning, Transformation and Modelling</a:t>
            </a:r>
            <a:endParaRPr lang="en-IN" sz="4000" dirty="0">
              <a:latin typeface="Eras Medium ITC" panose="020B06020305040208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40E6D-ECC1-AA39-B9F4-B4D7DB6B6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7890"/>
            <a:ext cx="10515600" cy="374907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Ans : </a:t>
            </a:r>
            <a:r>
              <a:rPr lang="en-US" sz="2000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Data Loading in Power BI</a:t>
            </a:r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 is the process of importing data from various sources into Power BI so it can be used for analysis, visualization, and reporting.</a:t>
            </a:r>
          </a:p>
          <a:p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Data loading is the </a:t>
            </a:r>
            <a:r>
              <a:rPr lang="en-US" sz="2000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foundation of any analysis</a:t>
            </a:r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 because:</a:t>
            </a:r>
          </a:p>
          <a:p>
            <a:r>
              <a:rPr lang="en-US" sz="2000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No data = no analysis</a:t>
            </a:r>
            <a:b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</a:br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You must have data in Power BI before creating reports or insights. </a:t>
            </a:r>
          </a:p>
          <a:p>
            <a:r>
              <a:rPr lang="en-US" sz="2000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Defines data quality</a:t>
            </a:r>
            <a:b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</a:br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The way data is loaded (cleaned, structured) directly affects accuracy. </a:t>
            </a:r>
          </a:p>
          <a:p>
            <a:r>
              <a:rPr lang="en-US" sz="2000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Sets up relationships and structure</a:t>
            </a:r>
            <a:b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</a:br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Tables, columns, and relationships are established during this stage. </a:t>
            </a:r>
          </a:p>
          <a:p>
            <a:r>
              <a:rPr lang="en-US" sz="2000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Enables further processes</a:t>
            </a:r>
            <a:b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</a:br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Steps like data modeling, DAX calculations, and visualization all depend on loaded data</a:t>
            </a:r>
          </a:p>
          <a:p>
            <a:pPr marL="0" indent="0">
              <a:buNone/>
            </a:pPr>
            <a:endParaRPr lang="en-US" sz="2000" dirty="0">
              <a:solidFill>
                <a:srgbClr val="0070C0"/>
              </a:solidFill>
              <a:latin typeface="Amasis MT Pro Medium" panose="020406040500050203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4606D-135D-1734-CBE8-CE678C376835}"/>
              </a:ext>
            </a:extLst>
          </p:cNvPr>
          <p:cNvSpPr txBox="1"/>
          <p:nvPr/>
        </p:nvSpPr>
        <p:spPr>
          <a:xfrm>
            <a:off x="838199" y="1469971"/>
            <a:ext cx="103448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Question 1 : What is Data Loading in Power BI and why is it considered the first step of analysis?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4810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24FC-806A-B4A0-AF7A-07F3F2F2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Question 2 : Explain the difference between “Load” and “Transform Data” in Power BI.</a:t>
            </a:r>
            <a:endParaRPr lang="en-IN" sz="2800" dirty="0">
              <a:latin typeface="Amasis MT Pro Medium" panose="020406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52080-5CE2-20AD-61DF-B7DA1F3F6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Ans :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E0B870-C86E-09BC-C8C7-A98185317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465883"/>
              </p:ext>
            </p:extLst>
          </p:nvPr>
        </p:nvGraphicFramePr>
        <p:xfrm>
          <a:off x="838200" y="2629694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836740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641961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50510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tx1"/>
                          </a:solidFill>
                          <a:latin typeface="Amasis MT Pro Medium" panose="02040604050005020304" pitchFamily="18" charset="0"/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tx1"/>
                          </a:solidFill>
                          <a:latin typeface="Amasis MT Pro Medium" panose="02040604050005020304" pitchFamily="18" charset="0"/>
                        </a:rPr>
                        <a:t>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u="sng" dirty="0">
                          <a:solidFill>
                            <a:schemeClr val="tx1"/>
                          </a:solidFill>
                          <a:latin typeface="Amasis MT Pro Medium" panose="02040604050005020304" pitchFamily="18" charset="0"/>
                        </a:rPr>
                        <a:t>Transform Data</a:t>
                      </a:r>
                      <a:endParaRPr lang="en-IN" u="sng" dirty="0">
                        <a:solidFill>
                          <a:schemeClr val="tx1"/>
                        </a:solidFill>
                        <a:latin typeface="Amasis MT Pro Medium" panose="020406040500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607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1.Directly imports data into 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1.Opens Power Query Editor to clean/modify data before loading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425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2.Quick data import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2.Data cleaning and preparation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331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Data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3.No changes made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3.You can filter, sort, remove duplicates, change types,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145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Tool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4.Load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4.Power Query Editor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624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When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5.When data is already clean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  <a:latin typeface="Amasis MT Pro Medium" panose="02040604050005020304" pitchFamily="18" charset="0"/>
                        </a:rPr>
                        <a:t>5.When data needs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13240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26BCA0-923E-D1E8-1A7E-9D0ABD231FFA}"/>
              </a:ext>
            </a:extLst>
          </p:cNvPr>
          <p:cNvCxnSpPr/>
          <p:nvPr/>
        </p:nvCxnSpPr>
        <p:spPr>
          <a:xfrm>
            <a:off x="838200" y="3034145"/>
            <a:ext cx="1039437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D09C37-801E-D4EB-21DA-A021C23ADA4B}"/>
              </a:ext>
            </a:extLst>
          </p:cNvPr>
          <p:cNvCxnSpPr>
            <a:cxnSpLocks/>
          </p:cNvCxnSpPr>
          <p:nvPr/>
        </p:nvCxnSpPr>
        <p:spPr>
          <a:xfrm>
            <a:off x="3310759" y="2753710"/>
            <a:ext cx="0" cy="32792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3DEAB2-C10D-EA67-BE7C-98751CD3740D}"/>
              </a:ext>
            </a:extLst>
          </p:cNvPr>
          <p:cNvCxnSpPr>
            <a:cxnSpLocks/>
          </p:cNvCxnSpPr>
          <p:nvPr/>
        </p:nvCxnSpPr>
        <p:spPr>
          <a:xfrm>
            <a:off x="7756634" y="2711669"/>
            <a:ext cx="0" cy="33212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143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5C7C-5A5B-AAED-940D-EE4CE3259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Question 3 : What is a Fact Table and a Dimension Table? Give examples from the dataset.</a:t>
            </a:r>
            <a:endParaRPr lang="en-IN" sz="2800" dirty="0">
              <a:latin typeface="Amasis MT Pro Medium" panose="020406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FD27C-E3D2-0ED0-391A-B4C38A1A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887"/>
            <a:ext cx="10515600" cy="4908988"/>
          </a:xfrm>
        </p:spPr>
        <p:txBody>
          <a:bodyPr>
            <a:noAutofit/>
          </a:bodyPr>
          <a:lstStyle/>
          <a:p>
            <a:r>
              <a:rPr lang="en-US" sz="1300" dirty="0">
                <a:latin typeface="+mj-lt"/>
              </a:rPr>
              <a:t>Ans  :  </a:t>
            </a:r>
            <a:r>
              <a:rPr lang="en-US" sz="1300" b="1" u="sng" dirty="0">
                <a:latin typeface="+mj-lt"/>
              </a:rPr>
              <a:t>Fact Table                                                                              </a:t>
            </a:r>
          </a:p>
          <a:p>
            <a:r>
              <a:rPr lang="en-US" sz="1300" dirty="0">
                <a:solidFill>
                  <a:srgbClr val="0070C0"/>
                </a:solidFill>
                <a:latin typeface="+mj-lt"/>
              </a:rPr>
              <a:t>Contains </a:t>
            </a:r>
            <a:r>
              <a:rPr lang="en-US" sz="1300" b="1" dirty="0">
                <a:solidFill>
                  <a:srgbClr val="0070C0"/>
                </a:solidFill>
                <a:latin typeface="+mj-lt"/>
              </a:rPr>
              <a:t>numerical/measurable data</a:t>
            </a:r>
            <a:r>
              <a:rPr lang="en-US" sz="1300" dirty="0">
                <a:solidFill>
                  <a:srgbClr val="0070C0"/>
                </a:solidFill>
                <a:latin typeface="+mj-lt"/>
              </a:rPr>
              <a:t> </a:t>
            </a:r>
          </a:p>
          <a:p>
            <a:r>
              <a:rPr lang="en-US" sz="1300" dirty="0">
                <a:solidFill>
                  <a:srgbClr val="0070C0"/>
                </a:solidFill>
                <a:latin typeface="+mj-lt"/>
              </a:rPr>
              <a:t>Stores </a:t>
            </a:r>
            <a:r>
              <a:rPr lang="en-US" sz="1300" b="1" dirty="0">
                <a:solidFill>
                  <a:srgbClr val="0070C0"/>
                </a:solidFill>
                <a:latin typeface="+mj-lt"/>
              </a:rPr>
              <a:t>business events or transactions</a:t>
            </a:r>
            <a:r>
              <a:rPr lang="en-US" sz="1300" dirty="0">
                <a:solidFill>
                  <a:srgbClr val="0070C0"/>
                </a:solidFill>
                <a:latin typeface="+mj-lt"/>
              </a:rPr>
              <a:t> </a:t>
            </a:r>
          </a:p>
          <a:p>
            <a:r>
              <a:rPr lang="en-US" sz="1300" dirty="0">
                <a:solidFill>
                  <a:srgbClr val="0070C0"/>
                </a:solidFill>
                <a:latin typeface="+mj-lt"/>
              </a:rPr>
              <a:t>Usually </a:t>
            </a:r>
            <a:r>
              <a:rPr lang="en-US" sz="1300" b="1" dirty="0">
                <a:solidFill>
                  <a:srgbClr val="0070C0"/>
                </a:solidFill>
                <a:latin typeface="+mj-lt"/>
              </a:rPr>
              <a:t>large</a:t>
            </a:r>
            <a:r>
              <a:rPr lang="en-US" sz="1300" dirty="0">
                <a:solidFill>
                  <a:srgbClr val="0070C0"/>
                </a:solidFill>
                <a:latin typeface="+mj-lt"/>
              </a:rPr>
              <a:t> in size </a:t>
            </a:r>
          </a:p>
          <a:p>
            <a:r>
              <a:rPr lang="en-US" sz="1300" dirty="0">
                <a:solidFill>
                  <a:srgbClr val="0070C0"/>
                </a:solidFill>
                <a:latin typeface="+mj-lt"/>
              </a:rPr>
              <a:t>Connected to dimension tables using keys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+mj-lt"/>
              </a:rPr>
              <a:t>Examples :</a:t>
            </a:r>
            <a:endParaRPr lang="en-US" sz="1300" dirty="0">
              <a:solidFill>
                <a:srgbClr val="0070C0"/>
              </a:solidFill>
              <a:latin typeface="+mj-lt"/>
            </a:endParaRPr>
          </a:p>
          <a:p>
            <a:r>
              <a:rPr lang="en-US" sz="1300" dirty="0">
                <a:solidFill>
                  <a:srgbClr val="0070C0"/>
                </a:solidFill>
                <a:latin typeface="+mj-lt"/>
              </a:rPr>
              <a:t>Sales amount </a:t>
            </a:r>
          </a:p>
          <a:p>
            <a:r>
              <a:rPr lang="en-US" sz="1300" dirty="0">
                <a:solidFill>
                  <a:srgbClr val="0070C0"/>
                </a:solidFill>
                <a:latin typeface="+mj-lt"/>
              </a:rPr>
              <a:t>Quantity sold</a:t>
            </a:r>
          </a:p>
          <a:p>
            <a:pPr marL="0" indent="0">
              <a:buNone/>
            </a:pPr>
            <a:r>
              <a:rPr lang="en-US" sz="1300" b="1" u="sng" dirty="0">
                <a:latin typeface="+mj-lt"/>
              </a:rPr>
              <a:t>Dimension Table</a:t>
            </a:r>
          </a:p>
          <a:p>
            <a:r>
              <a:rPr lang="en-US" sz="1300" dirty="0">
                <a:latin typeface="+mj-lt"/>
              </a:rPr>
              <a:t>Contains </a:t>
            </a:r>
            <a:r>
              <a:rPr lang="en-US" sz="1300" b="1" dirty="0">
                <a:latin typeface="+mj-lt"/>
              </a:rPr>
              <a:t>descriptive information</a:t>
            </a:r>
            <a:r>
              <a:rPr lang="en-US" sz="1300" dirty="0">
                <a:latin typeface="+mj-lt"/>
              </a:rPr>
              <a:t> </a:t>
            </a:r>
          </a:p>
          <a:p>
            <a:r>
              <a:rPr lang="en-US" sz="1300" dirty="0">
                <a:latin typeface="+mj-lt"/>
              </a:rPr>
              <a:t>Used to </a:t>
            </a:r>
            <a:r>
              <a:rPr lang="en-US" sz="1300" b="1" dirty="0">
                <a:latin typeface="+mj-lt"/>
              </a:rPr>
              <a:t>analyze/filter/group</a:t>
            </a:r>
            <a:r>
              <a:rPr lang="en-US" sz="1300" dirty="0">
                <a:latin typeface="+mj-lt"/>
              </a:rPr>
              <a:t> fact data </a:t>
            </a:r>
          </a:p>
          <a:p>
            <a:r>
              <a:rPr lang="en-US" sz="1300" dirty="0">
                <a:latin typeface="+mj-lt"/>
              </a:rPr>
              <a:t>Usually </a:t>
            </a:r>
            <a:r>
              <a:rPr lang="en-US" sz="1300" b="1" dirty="0">
                <a:latin typeface="+mj-lt"/>
              </a:rPr>
              <a:t>smaller</a:t>
            </a:r>
            <a:r>
              <a:rPr lang="en-US" sz="1300" dirty="0">
                <a:latin typeface="+mj-lt"/>
              </a:rPr>
              <a:t> in size </a:t>
            </a:r>
          </a:p>
          <a:p>
            <a:pPr marL="0" indent="0">
              <a:buNone/>
            </a:pPr>
            <a:r>
              <a:rPr lang="en-US" sz="1300" b="1" dirty="0">
                <a:latin typeface="+mj-lt"/>
              </a:rPr>
              <a:t>Examples:</a:t>
            </a:r>
            <a:endParaRPr lang="en-US" sz="1300" dirty="0">
              <a:latin typeface="+mj-lt"/>
            </a:endParaRPr>
          </a:p>
          <a:p>
            <a:r>
              <a:rPr lang="en-US" sz="1300" dirty="0">
                <a:latin typeface="+mj-lt"/>
              </a:rPr>
              <a:t>Customer details </a:t>
            </a:r>
          </a:p>
          <a:p>
            <a:r>
              <a:rPr lang="en-US" sz="1300" dirty="0">
                <a:latin typeface="+mj-lt"/>
              </a:rPr>
              <a:t>Product details </a:t>
            </a:r>
          </a:p>
          <a:p>
            <a:r>
              <a:rPr lang="en-US" sz="1300" dirty="0">
                <a:latin typeface="+mj-lt"/>
              </a:rPr>
              <a:t>Date/time info</a:t>
            </a:r>
          </a:p>
          <a:p>
            <a:endParaRPr lang="en-US" sz="1300" dirty="0">
              <a:solidFill>
                <a:srgbClr val="0070C0"/>
              </a:solidFill>
              <a:latin typeface="+mj-lt"/>
            </a:endParaRPr>
          </a:p>
          <a:p>
            <a:endParaRPr lang="en-IN" sz="1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106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C995-DFC8-DD76-AF1F-DE280D2F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Question 4 : Why is Star Schema preferred over Snowflake Schema in Power BI?</a:t>
            </a:r>
            <a:endParaRPr lang="en-IN" sz="2800" dirty="0">
              <a:latin typeface="Amasis MT Pro Medium" panose="020406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07FD8-9087-42A7-1DE7-3FC60B2C9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87" y="1526920"/>
            <a:ext cx="11214643" cy="48633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masis MT Pro Medium" panose="02040604050005020304" pitchFamily="18" charset="0"/>
              </a:rPr>
              <a:t>Ans : </a:t>
            </a:r>
            <a:r>
              <a:rPr lang="en-IN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1. </a:t>
            </a:r>
            <a:r>
              <a:rPr lang="en-IN" b="1" u="sng" dirty="0">
                <a:solidFill>
                  <a:srgbClr val="0070C0"/>
                </a:solidFill>
                <a:latin typeface="Amasis MT Pro Medium" panose="02040604050005020304" pitchFamily="18" charset="0"/>
              </a:rPr>
              <a:t>Simpler Structure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Star Schema → One central fact table connected directly to dimension tables 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Snowflake Schema → Dimensions split into multiple related tables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2. </a:t>
            </a:r>
            <a:r>
              <a:rPr lang="en-IN" b="1" u="sng" dirty="0">
                <a:solidFill>
                  <a:srgbClr val="0070C0"/>
                </a:solidFill>
                <a:latin typeface="Amasis MT Pro Medium" panose="02040604050005020304" pitchFamily="18" charset="0"/>
              </a:rPr>
              <a:t>Better Performance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Fewer joins → Faster queries 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Power BI works more efficiently with </a:t>
            </a:r>
            <a:r>
              <a:rPr lang="en-IN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simple relationships</a:t>
            </a:r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3. </a:t>
            </a:r>
            <a:r>
              <a:rPr lang="en-IN" b="1" u="sng" dirty="0">
                <a:solidFill>
                  <a:srgbClr val="0070C0"/>
                </a:solidFill>
                <a:latin typeface="Amasis MT Pro Medium" panose="02040604050005020304" pitchFamily="18" charset="0"/>
              </a:rPr>
              <a:t>Easy Data </a:t>
            </a:r>
            <a:r>
              <a:rPr lang="en-IN" b="1" u="sng" dirty="0" err="1">
                <a:solidFill>
                  <a:srgbClr val="0070C0"/>
                </a:solidFill>
                <a:latin typeface="Amasis MT Pro Medium" panose="02040604050005020304" pitchFamily="18" charset="0"/>
              </a:rPr>
              <a:t>Modeling</a:t>
            </a:r>
            <a:endParaRPr lang="en-IN" b="1" u="sng" dirty="0">
              <a:solidFill>
                <a:srgbClr val="0070C0"/>
              </a:solidFill>
              <a:latin typeface="Amasis MT Pro Medium" panose="02040604050005020304" pitchFamily="18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Relationships are straightforward 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Less confusion while creating measures (DAX) 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Ideal for beginners and real-world dashboards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4. </a:t>
            </a:r>
            <a:r>
              <a:rPr lang="en-IN" b="1" u="sng" dirty="0">
                <a:solidFill>
                  <a:srgbClr val="0070C0"/>
                </a:solidFill>
                <a:latin typeface="Amasis MT Pro Medium" panose="02040604050005020304" pitchFamily="18" charset="0"/>
              </a:rPr>
              <a:t>Improved Visualization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Cleaner model → Easier drag-and-drop in Power BI 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Reduces ambiguity while building charts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Amasis MT Pro Medium" panose="02040604050005020304" pitchFamily="18" charset="0"/>
              </a:rPr>
              <a:t>5</a:t>
            </a:r>
            <a:r>
              <a:rPr lang="en-IN" b="1" u="sng" dirty="0">
                <a:solidFill>
                  <a:srgbClr val="0070C0"/>
                </a:solidFill>
                <a:latin typeface="Amasis MT Pro Medium" panose="02040604050005020304" pitchFamily="18" charset="0"/>
              </a:rPr>
              <a:t>. Less Complexity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Snowflake schema has normalized tables → more joins, more complexity </a:t>
            </a:r>
          </a:p>
          <a:p>
            <a:r>
              <a:rPr lang="en-IN" dirty="0">
                <a:solidFill>
                  <a:srgbClr val="0070C0"/>
                </a:solidFill>
                <a:latin typeface="Amasis MT Pro Medium" panose="02040604050005020304" pitchFamily="18" charset="0"/>
              </a:rPr>
              <a:t>Star schema is denormalized → fewer tables, simpler design</a:t>
            </a:r>
          </a:p>
          <a:p>
            <a:endParaRPr lang="en-IN" dirty="0">
              <a:solidFill>
                <a:srgbClr val="0070C0"/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49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451</Words>
  <Application>Microsoft Office PowerPoint</Application>
  <PresentationFormat>Widescreen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Amasis MT Pro Medium</vt:lpstr>
      <vt:lpstr>Arial</vt:lpstr>
      <vt:lpstr>Calibri</vt:lpstr>
      <vt:lpstr>Calibri Light</vt:lpstr>
      <vt:lpstr>Eras Medium ITC</vt:lpstr>
      <vt:lpstr>Office Theme</vt:lpstr>
      <vt:lpstr>Data Cleaning, Transformation and Modelling</vt:lpstr>
      <vt:lpstr>Question 2 : Explain the difference between “Load” and “Transform Data” in Power BI.</vt:lpstr>
      <vt:lpstr>Question 3 : What is a Fact Table and a Dimension Table? Give examples from the dataset.</vt:lpstr>
      <vt:lpstr>Question 4 : Why is Star Schema preferred over Snowflake Schema in Power BI?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lakshay maretha</dc:creator>
  <cp:lastModifiedBy>lakshay maretha</cp:lastModifiedBy>
  <cp:revision>1</cp:revision>
  <dcterms:created xsi:type="dcterms:W3CDTF">2026-03-31T07:39:23Z</dcterms:created>
  <dcterms:modified xsi:type="dcterms:W3CDTF">2026-03-31T08:01:30Z</dcterms:modified>
</cp:coreProperties>
</file>